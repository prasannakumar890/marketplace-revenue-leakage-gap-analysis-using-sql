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</p:sldIdLst>
  <p:sldSz cx="9144000" cy="5143500" type="screen16x9"/>
  <p:notesSz cx="5143500" cy="9144000"/>
  <p:embeddedFontLst>
    <p:embeddedFont>
      <p:font typeface="Instrument Sans Medium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05468"/>
    <a:srgbClr val="595D70"/>
    <a:srgbClr val="FFFFFF"/>
    <a:srgbClr val="EFF9FA"/>
    <a:srgbClr val="5B5F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6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828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5" Type="http://schemas.openxmlformats.org/officeDocument/2006/relationships/image" Target="../media/image1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287195" y="906363"/>
            <a:ext cx="7360688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MARKETPLACE REVENUE LEAKAGE &amp; PROFITABILITY GAP ANALYSIS</a:t>
            </a:r>
            <a:endParaRPr lang="en-US" sz="27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420837" y="2447925"/>
            <a:ext cx="722704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 structured SQL-driven investigation into hidden margin erosion, discount dependency, and return-driven revenue loss across marketplace operations.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3447306"/>
            <a:ext cx="947961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50546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4936" y="3494559"/>
            <a:ext cx="122552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PREPARED BY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3925119" y="3882703"/>
            <a:ext cx="26456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Prasanna Kumar 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64201" y="3447306"/>
            <a:ext cx="889843" cy="275927"/>
          </a:xfrm>
          <a:prstGeom prst="roundRect">
            <a:avLst>
              <a:gd name="adj" fmla="val 17263"/>
            </a:avLst>
          </a:prstGeom>
          <a:noFill/>
          <a:ln w="4763">
            <a:solidFill>
              <a:srgbClr val="50546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54019" y="3494559"/>
            <a:ext cx="116740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50546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TOOLS USED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64201" y="3882703"/>
            <a:ext cx="26456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· SQL · Excel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5701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Project Overview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035174"/>
            <a:ext cx="80688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15 Tasks. One Mission: Find the Profit Gap.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690762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This analysis identifies where and why marketplace profitability breaks down — from loss-making SKUs and over-discounting to return-driven leakage and payment fee drag.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303859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525762"/>
            <a:ext cx="4004965" cy="190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634704"/>
            <a:ext cx="249942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Revenue vs Profit Reality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96119" y="2941216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Does high sales volume translate to actual profit?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642842" y="2303859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2525762"/>
            <a:ext cx="4005039" cy="190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42842" y="2634704"/>
            <a:ext cx="26969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Category-wise Profitability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642842" y="2941216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Which categories drive margin vs. just volume?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96119" y="341605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623742"/>
            <a:ext cx="4004965" cy="190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6119" y="3746897"/>
            <a:ext cx="233682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Loss-Making Products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496119" y="4053408"/>
            <a:ext cx="44621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Which SKUs are actively eroding the bottom line?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4642842" y="3416052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Light" pitchFamily="34" charset="-122"/>
                <a:cs typeface="Times New Roman" panose="02020603050405020304" pitchFamily="18" charset="0"/>
              </a:rPr>
              <a:t>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3623742"/>
            <a:ext cx="4005039" cy="190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642842" y="3746897"/>
            <a:ext cx="260538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Discount &amp; Return Impact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4642842" y="4053408"/>
            <a:ext cx="4462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Are promotions and returns undermining profit growth?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715117" y="177339"/>
            <a:ext cx="539472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1: Revenue vs. Profit Reality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715117" y="77272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Objective:</a:t>
            </a: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Evaluate whether the marketplace is truly profitable or simply generating high sales volume.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542472" y="1963325"/>
            <a:ext cx="2392635" cy="1805604"/>
          </a:xfrm>
          <a:prstGeom prst="roundRect">
            <a:avLst>
              <a:gd name="adj" fmla="val 4266"/>
            </a:avLst>
          </a:prstGeom>
          <a:solidFill>
            <a:srgbClr val="505468">
              <a:alpha val="95000"/>
            </a:srgbClr>
          </a:solidFill>
          <a:ln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400" dirty="0"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revenue does not always mean high profit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Hidden operational costs reduce profitability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400" dirty="0">
              <a:latin typeface="Arial" panose="020B06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715117" y="20875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GAP Identified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211993" y="1358950"/>
            <a:ext cx="24135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11993" y="1710576"/>
            <a:ext cx="2188443" cy="9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pricing strategy </a:t>
            </a:r>
          </a:p>
          <a:p>
            <a:endParaRPr lang="en-US" sz="1200" dirty="0">
              <a:solidFill>
                <a:srgbClr val="5B5F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cost-to-revenue ratio</a:t>
            </a:r>
          </a:p>
          <a:p>
            <a:endParaRPr lang="en-US" sz="1200" dirty="0">
              <a:solidFill>
                <a:srgbClr val="5B5F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profitability tracking </a:t>
            </a: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endParaRPr lang="en-US" sz="1200" dirty="0">
              <a:solidFill>
                <a:srgbClr val="5B5F7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AA85CA53-9047-5D59-2F0F-3D2D8C518B3A}"/>
              </a:ext>
            </a:extLst>
          </p:cNvPr>
          <p:cNvSpPr/>
          <p:nvPr/>
        </p:nvSpPr>
        <p:spPr>
          <a:xfrm>
            <a:off x="6211993" y="2937473"/>
            <a:ext cx="24135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200" b="1" dirty="0">
                <a:solidFill>
                  <a:srgbClr val="595D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</a:t>
            </a:r>
          </a:p>
          <a:p>
            <a:pPr>
              <a:lnSpc>
                <a:spcPct val="104000"/>
              </a:lnSpc>
            </a:pPr>
            <a:endParaRPr lang="en-IN" sz="1200" b="1" dirty="0">
              <a:solidFill>
                <a:srgbClr val="595D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4000"/>
              </a:lnSpc>
            </a:pPr>
            <a:endParaRPr lang="en-IN" sz="1200" b="1" dirty="0">
              <a:solidFill>
                <a:srgbClr val="595D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4000"/>
              </a:lnSpc>
            </a:pPr>
            <a:endParaRPr lang="en-US" sz="1200" b="1" dirty="0">
              <a:solidFill>
                <a:srgbClr val="595D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864BFE31-CEBF-E364-A9F1-1B9F4136A2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1993" y="3223351"/>
            <a:ext cx="2140593" cy="8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B5F7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 margins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B5F7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Inefficient pricing 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B5F7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Poor Cost Control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228CFA2-3353-41C2-0E7F-C28EDF7B4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56" y="404153"/>
            <a:ext cx="2355521" cy="42203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4919365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2: Category-wise Sales &amp; Profit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Objective: Identify which categories genuinely drive profitability — not just top-line sales volume.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476" y="1097293"/>
            <a:ext cx="3538463" cy="35384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Shape 2">
            <a:extLst>
              <a:ext uri="{FF2B5EF4-FFF2-40B4-BE49-F238E27FC236}">
                <a16:creationId xmlns:a16="http://schemas.microsoft.com/office/drawing/2014/main" id="{00E26B0D-3AAE-F154-0451-DE5FF93608A4}"/>
              </a:ext>
            </a:extLst>
          </p:cNvPr>
          <p:cNvSpPr/>
          <p:nvPr/>
        </p:nvSpPr>
        <p:spPr>
          <a:xfrm>
            <a:off x="3961738" y="1747771"/>
            <a:ext cx="2345440" cy="1805604"/>
          </a:xfrm>
          <a:prstGeom prst="roundRect">
            <a:avLst>
              <a:gd name="adj" fmla="val 4266"/>
            </a:avLst>
          </a:prstGeom>
          <a:solidFill>
            <a:srgbClr val="505468">
              <a:alpha val="95000"/>
            </a:srgbClr>
          </a:solidFill>
          <a:ln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categories generate high sales but low profit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categories have strong margins despite lower sales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C21255EE-3121-57F4-28B9-C214BF03BAC8}"/>
              </a:ext>
            </a:extLst>
          </p:cNvPr>
          <p:cNvSpPr/>
          <p:nvPr/>
        </p:nvSpPr>
        <p:spPr>
          <a:xfrm>
            <a:off x="6540978" y="1360368"/>
            <a:ext cx="24135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C5C2066-A8BD-5FED-7EE4-6A6BD96A896A}"/>
              </a:ext>
            </a:extLst>
          </p:cNvPr>
          <p:cNvSpPr/>
          <p:nvPr/>
        </p:nvSpPr>
        <p:spPr>
          <a:xfrm>
            <a:off x="6540978" y="3068057"/>
            <a:ext cx="24135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200" b="1" dirty="0">
                <a:solidFill>
                  <a:srgbClr val="595D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</a:t>
            </a:r>
          </a:p>
          <a:p>
            <a:pPr>
              <a:lnSpc>
                <a:spcPct val="104000"/>
              </a:lnSpc>
            </a:pPr>
            <a:endParaRPr lang="en-IN" sz="1200" b="1" dirty="0">
              <a:solidFill>
                <a:srgbClr val="595D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4000"/>
              </a:lnSpc>
            </a:pPr>
            <a:endParaRPr lang="en-IN" sz="1200" b="1" dirty="0">
              <a:solidFill>
                <a:srgbClr val="595D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4000"/>
              </a:lnSpc>
            </a:pPr>
            <a:endParaRPr lang="en-US" sz="1200" b="1" dirty="0">
              <a:solidFill>
                <a:srgbClr val="595D7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0004B2-B0F4-1B5C-5322-B88A3393990F}"/>
              </a:ext>
            </a:extLst>
          </p:cNvPr>
          <p:cNvSpPr txBox="1"/>
          <p:nvPr/>
        </p:nvSpPr>
        <p:spPr>
          <a:xfrm>
            <a:off x="6540978" y="1700890"/>
            <a:ext cx="1934308" cy="1223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B6E28D-0019-6CFD-DE5B-934533993DA2}"/>
              </a:ext>
            </a:extLst>
          </p:cNvPr>
          <p:cNvSpPr txBox="1"/>
          <p:nvPr/>
        </p:nvSpPr>
        <p:spPr>
          <a:xfrm>
            <a:off x="6513341" y="1700889"/>
            <a:ext cx="1934308" cy="1223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D40E62-CBB0-47BD-1722-98E33AD83AED}"/>
              </a:ext>
            </a:extLst>
          </p:cNvPr>
          <p:cNvSpPr txBox="1"/>
          <p:nvPr/>
        </p:nvSpPr>
        <p:spPr>
          <a:xfrm>
            <a:off x="6540978" y="3322543"/>
            <a:ext cx="2103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Over-investment in low-margin categories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A803606C-F3D2-22C7-0087-9F77ECB46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0451" y="1360368"/>
            <a:ext cx="2105063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profitable categories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category pricing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inventory plannin</a:t>
            </a:r>
            <a:r>
              <a:rPr lang="en-US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7822" y="270942"/>
            <a:ext cx="3630364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3: Loss-Making Products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17822" y="641896"/>
            <a:ext cx="5079355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Objective:</a:t>
            </a:r>
            <a:r>
              <a:rPr lang="en-US" sz="10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Identify specific SKUs generating negative profit and quantify their drag on overall business performance.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17822" y="945579"/>
            <a:ext cx="5079355" cy="817587"/>
          </a:xfrm>
          <a:prstGeom prst="roundRect">
            <a:avLst>
              <a:gd name="adj" fmla="val 4665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70" y="1041127"/>
            <a:ext cx="272430" cy="27243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305" y="1116062"/>
            <a:ext cx="122560" cy="1225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13370" y="1371674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Incorrect Pricing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13370" y="1548482"/>
            <a:ext cx="53454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Products priced below cost or without margin buffers built in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317822" y="1821284"/>
            <a:ext cx="5079355" cy="817587"/>
          </a:xfrm>
          <a:prstGeom prst="roundRect">
            <a:avLst>
              <a:gd name="adj" fmla="val 4665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370" y="1916832"/>
            <a:ext cx="272430" cy="27243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8305" y="1991767"/>
            <a:ext cx="122560" cy="12256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13370" y="2247379"/>
            <a:ext cx="1716732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High Procurement Cost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7"/>
          <p:cNvSpPr/>
          <p:nvPr/>
        </p:nvSpPr>
        <p:spPr>
          <a:xfrm>
            <a:off x="413370" y="2424187"/>
            <a:ext cx="53454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Supplier pricing not renegotiated relative to market benchmarks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317822" y="2696989"/>
            <a:ext cx="5079355" cy="817587"/>
          </a:xfrm>
          <a:prstGeom prst="roundRect">
            <a:avLst>
              <a:gd name="adj" fmla="val 4665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370" y="2792537"/>
            <a:ext cx="272430" cy="272430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8305" y="2867471"/>
            <a:ext cx="122560" cy="12256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413370" y="3123084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Frequent Returns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413370" y="3299892"/>
            <a:ext cx="53454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Returned units absorb reverse logistics and restocking costs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317822" y="3572694"/>
            <a:ext cx="5079355" cy="817587"/>
          </a:xfrm>
          <a:prstGeom prst="roundRect">
            <a:avLst>
              <a:gd name="adj" fmla="val 4665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70" y="3668241"/>
            <a:ext cx="272430" cy="272430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8305" y="3743176"/>
            <a:ext cx="122560" cy="12256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413370" y="3998788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Excessive Discounts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3"/>
          <p:cNvSpPr/>
          <p:nvPr/>
        </p:nvSpPr>
        <p:spPr>
          <a:xfrm>
            <a:off x="413370" y="4175596"/>
            <a:ext cx="5345460" cy="1191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Promotions applied without margin safeguards in place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4"/>
          <p:cNvSpPr/>
          <p:nvPr/>
        </p:nvSpPr>
        <p:spPr>
          <a:xfrm>
            <a:off x="317822" y="4455691"/>
            <a:ext cx="5079355" cy="500062"/>
          </a:xfrm>
          <a:prstGeom prst="roundRect">
            <a:avLst>
              <a:gd name="adj" fmla="val 9152"/>
            </a:avLst>
          </a:prstGeom>
          <a:solidFill>
            <a:srgbClr val="FFB3B4"/>
          </a:solidFill>
          <a:ln/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08608" y="4580186"/>
            <a:ext cx="113481" cy="90785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12874" y="4536504"/>
            <a:ext cx="4693518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Action Required: Reprice underperforming SKUs, remove structurally weak-margin products, and initiate supplier renegotiation cycles.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88669AF-EDA2-7671-D665-B3072BA2957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48374" y="233967"/>
            <a:ext cx="2527410" cy="45282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9610" y="478259"/>
            <a:ext cx="6576492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4: Discount Usage &amp; Margin Erosion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9610" y="1112565"/>
            <a:ext cx="8694390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Objective:</a:t>
            </a: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Evaluate the marketplace's dependency on promotional discounts and measure their true cost to profitability.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262" y="1774999"/>
            <a:ext cx="5249391" cy="20579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75251" y="1875923"/>
            <a:ext cx="960958" cy="30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Heavy Promotions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12306" y="1875923"/>
            <a:ext cx="1418158" cy="15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Volume Growth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12306" y="3268627"/>
            <a:ext cx="960958" cy="463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Customer Discount Dependency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18051" y="3577506"/>
            <a:ext cx="960958" cy="154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Margin Erosion</a:t>
            </a:r>
            <a:endParaRPr lang="en-US" sz="10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49610" y="3963888"/>
            <a:ext cx="524939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Discounts that drive short-term volume growth often create long-term structural margin problems if not actively governed.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17196" y="1555849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Risks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017196" y="1872928"/>
            <a:ext cx="2681883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17196" y="3246313"/>
            <a:ext cx="223108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17196" y="3563392"/>
            <a:ext cx="2681883" cy="1061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A0760CBD-49D7-74B7-8B9A-92CAE1C35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882" y="1588069"/>
            <a:ext cx="2180853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Margin erosion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Unsustainable growth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dependency on offer </a:t>
            </a:r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6910C295-B1B8-BBC7-C1EC-FD5D5C2FA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4291" y="3237184"/>
            <a:ext cx="2153154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coupon strategy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unnecessary discounts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discount ROI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5219" y="339105"/>
            <a:ext cx="765140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5: Payment Method Popularity &amp; Cost Leakage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5219" y="914698"/>
            <a:ext cx="8698781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Objective:</a:t>
            </a: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Understand customer payment behavior and identify which methods create hidden transaction cost burdens.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45219" y="1305446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GAP Identified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45219" y="1593205"/>
            <a:ext cx="2698998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 payment methods may create high transaction cost</a:t>
            </a:r>
          </a:p>
        </p:txBody>
      </p:sp>
      <p:sp>
        <p:nvSpPr>
          <p:cNvPr id="6" name="Text 4"/>
          <p:cNvSpPr/>
          <p:nvPr/>
        </p:nvSpPr>
        <p:spPr>
          <a:xfrm>
            <a:off x="388948" y="2298650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Risks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88948" y="2601366"/>
            <a:ext cx="2698998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88948" y="3236911"/>
            <a:ext cx="2107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5219" y="3816697"/>
            <a:ext cx="2698998" cy="952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3000"/>
              </a:lnSpc>
              <a:buSzPct val="100000"/>
              <a:buChar char="•"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CAF88733-D78E-0FAA-BFA1-7974EAD24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74" y="2253808"/>
            <a:ext cx="1741182" cy="8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fee leakage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Operational complexity 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50B4B254-44EA-049F-AFF7-1ADCD7E29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074" y="3208532"/>
            <a:ext cx="2501006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low-cost payment methods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Negotiate payment gateway fees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payment cost analysis</a:t>
            </a:r>
          </a:p>
        </p:txBody>
      </p:sp>
      <p:pic>
        <p:nvPicPr>
          <p:cNvPr id="4100" name="Picture 4" descr="Payment Method Vector Art, Icons, and Graphics for Free Download">
            <a:extLst>
              <a:ext uri="{FF2B5EF4-FFF2-40B4-BE49-F238E27FC236}">
                <a16:creationId xmlns:a16="http://schemas.microsoft.com/office/drawing/2014/main" id="{FF51DB3B-78FA-0ADC-68D4-2E7194D6A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8514" y="1585014"/>
            <a:ext cx="4762542" cy="24731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3072"/>
            <a:ext cx="546117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6: Discount vs. Profit Gap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39577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Objective:</a:t>
            </a: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Determine whether discounts are generating genuine profit improvement — or just inflating gross revenue metrics without bottom-line benefit.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8948" y="1694892"/>
            <a:ext cx="8151763" cy="829196"/>
          </a:xfrm>
          <a:prstGeom prst="roundRect">
            <a:avLst>
              <a:gd name="adj" fmla="val 7181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1967731"/>
            <a:ext cx="177180" cy="1417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6816" y="1929854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Core Risk: Revenue growth and profit growth are decoupling — high order volumes are masking flat or declining per-order margins.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96119" y="2741340"/>
            <a:ext cx="2622724" cy="1989013"/>
          </a:xfrm>
          <a:prstGeom prst="roundRect">
            <a:avLst>
              <a:gd name="adj" fmla="val 45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069" y="2741340"/>
            <a:ext cx="76200" cy="198901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4077" y="3208660"/>
            <a:ext cx="2243956" cy="540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Discounts increase volume but reduce profit margins</a:t>
            </a:r>
          </a:p>
        </p:txBody>
      </p:sp>
      <p:sp>
        <p:nvSpPr>
          <p:cNvPr id="11" name="Shape 7"/>
          <p:cNvSpPr/>
          <p:nvPr/>
        </p:nvSpPr>
        <p:spPr>
          <a:xfrm>
            <a:off x="3260601" y="2741340"/>
            <a:ext cx="2622724" cy="1989013"/>
          </a:xfrm>
          <a:prstGeom prst="roundRect">
            <a:avLst>
              <a:gd name="adj" fmla="val 45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1551" y="2741340"/>
            <a:ext cx="76200" cy="198901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8560" y="3268338"/>
            <a:ext cx="2243956" cy="480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 without profit growth</a:t>
            </a:r>
          </a:p>
        </p:txBody>
      </p:sp>
      <p:sp>
        <p:nvSpPr>
          <p:cNvPr id="15" name="Shape 10"/>
          <p:cNvSpPr/>
          <p:nvPr/>
        </p:nvSpPr>
        <p:spPr>
          <a:xfrm>
            <a:off x="6025083" y="2741340"/>
            <a:ext cx="2622724" cy="1989013"/>
          </a:xfrm>
          <a:prstGeom prst="roundRect">
            <a:avLst>
              <a:gd name="adj" fmla="val 4597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6033" y="2741340"/>
            <a:ext cx="76200" cy="198901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43042" y="3208660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A60CBF3B-8B26-46F5-D4DD-7F8DA0FA19D6}"/>
              </a:ext>
            </a:extLst>
          </p:cNvPr>
          <p:cNvSpPr/>
          <p:nvPr/>
        </p:nvSpPr>
        <p:spPr>
          <a:xfrm>
            <a:off x="675977" y="288269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GAP Identified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C48F9BD1-5D9A-37E4-3486-90D1C3AEC6E6}"/>
              </a:ext>
            </a:extLst>
          </p:cNvPr>
          <p:cNvSpPr/>
          <p:nvPr/>
        </p:nvSpPr>
        <p:spPr>
          <a:xfrm>
            <a:off x="6204941" y="2832974"/>
            <a:ext cx="210777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EBD3D20B-9C76-DEFC-BB41-AB2F8C013FE2}"/>
              </a:ext>
            </a:extLst>
          </p:cNvPr>
          <p:cNvSpPr/>
          <p:nvPr/>
        </p:nvSpPr>
        <p:spPr>
          <a:xfrm>
            <a:off x="3440459" y="2882698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Risks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7690E093-2899-07EF-345E-C3C9655A0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5066" y="2836809"/>
            <a:ext cx="2342757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promotion effectiveness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targeting strategy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Protect margin stability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1871" y="402878"/>
            <a:ext cx="483125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7: Return Impact on Revenue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41871" y="1240892"/>
            <a:ext cx="483125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Business Objective:</a:t>
            </a: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Quantify the financial losses caused by product returns and identify systemic drivers of return-driven revenue leakage.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50937" y="1868984"/>
            <a:ext cx="2443460" cy="2871639"/>
          </a:xfrm>
          <a:prstGeom prst="roundRect">
            <a:avLst>
              <a:gd name="adj" fmla="val 3720"/>
            </a:avLst>
          </a:prstGeom>
          <a:solidFill>
            <a:srgbClr val="505468">
              <a:alpha val="95000"/>
            </a:srgbClr>
          </a:solidFill>
          <a:ln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</p:sp>
      <p:sp>
        <p:nvSpPr>
          <p:cNvPr id="6" name="Text 3"/>
          <p:cNvSpPr/>
          <p:nvPr/>
        </p:nvSpPr>
        <p:spPr>
          <a:xfrm>
            <a:off x="477143" y="1981423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GAP Identified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77143" y="2291135"/>
            <a:ext cx="219104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reverse revenue and reduce profitability</a:t>
            </a:r>
          </a:p>
        </p:txBody>
      </p:sp>
      <p:sp>
        <p:nvSpPr>
          <p:cNvPr id="8" name="Text 5"/>
          <p:cNvSpPr/>
          <p:nvPr/>
        </p:nvSpPr>
        <p:spPr>
          <a:xfrm>
            <a:off x="477143" y="3167360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Risks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7143" y="3477071"/>
            <a:ext cx="2191048" cy="1224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016300" y="1981423"/>
            <a:ext cx="2199829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16300" y="2291135"/>
            <a:ext cx="2261592" cy="2027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6000"/>
              </a:lnSpc>
              <a:buSzPct val="100000"/>
              <a:buChar char="•"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6D0AA91-0D05-813B-5B07-41441A9F7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871" y="3077889"/>
            <a:ext cx="1794081" cy="8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Revenue leakage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Reverse logistics burden 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D956BD7E-0D85-6FE9-4FB6-4CE636E8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6300" y="2080059"/>
            <a:ext cx="2089033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product quality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fulfillment accuracy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return rate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CE34DC0-26B3-89DA-10BB-5AD78108A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8588" y="1634641"/>
            <a:ext cx="3544475" cy="1933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462" y="476185"/>
            <a:ext cx="434488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8: Return Reason Analysis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FBD93F7-1D0B-ACC6-6031-1DD26562693F}"/>
              </a:ext>
            </a:extLst>
          </p:cNvPr>
          <p:cNvSpPr/>
          <p:nvPr/>
        </p:nvSpPr>
        <p:spPr>
          <a:xfrm>
            <a:off x="560121" y="1668948"/>
            <a:ext cx="2392635" cy="1805604"/>
          </a:xfrm>
          <a:prstGeom prst="roundRect">
            <a:avLst>
              <a:gd name="adj" fmla="val 4266"/>
            </a:avLst>
          </a:prstGeom>
          <a:solidFill>
            <a:srgbClr val="505468">
              <a:alpha val="95000"/>
            </a:srgbClr>
          </a:solidFill>
          <a:ln/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issues: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Damaged products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Wrong item delivery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Poor quality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issues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3C9483D8-91ED-B8EB-2770-E3FED46E4DA3}"/>
              </a:ext>
            </a:extLst>
          </p:cNvPr>
          <p:cNvSpPr/>
          <p:nvPr/>
        </p:nvSpPr>
        <p:spPr>
          <a:xfrm>
            <a:off x="675977" y="1792452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GAP Identified</a:t>
            </a:r>
            <a:endParaRPr lang="en-US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F164DC-A4AB-0CA7-B68C-6DA0566E0913}"/>
              </a:ext>
            </a:extLst>
          </p:cNvPr>
          <p:cNvSpPr/>
          <p:nvPr/>
        </p:nvSpPr>
        <p:spPr>
          <a:xfrm>
            <a:off x="3526789" y="1287849"/>
            <a:ext cx="1952402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Risks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E67C164A-C3D7-D1D5-6B7D-65BEF4F43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271" y="1223890"/>
            <a:ext cx="1798890" cy="8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 dissatisfaction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Increased refund costs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8DBA6F9-5964-3FDD-7DC1-AA9D23A175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0271" y="2340022"/>
            <a:ext cx="2262158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packaging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supplier quality checks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logistics operations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78D28F72-5A8D-B688-BB13-A9BCBE110F97}"/>
              </a:ext>
            </a:extLst>
          </p:cNvPr>
          <p:cNvSpPr/>
          <p:nvPr/>
        </p:nvSpPr>
        <p:spPr>
          <a:xfrm>
            <a:off x="3526789" y="2361687"/>
            <a:ext cx="241354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IN" sz="1400" b="1" dirty="0">
                <a:solidFill>
                  <a:srgbClr val="50546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</a:t>
            </a:r>
          </a:p>
          <a:p>
            <a:pPr>
              <a:lnSpc>
                <a:spcPct val="104000"/>
              </a:lnSpc>
            </a:pPr>
            <a:endParaRPr lang="en-IN" sz="1400" b="1" dirty="0">
              <a:solidFill>
                <a:srgbClr val="50546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4000"/>
              </a:lnSpc>
            </a:pPr>
            <a:endParaRPr lang="en-IN" sz="1400" b="1" dirty="0">
              <a:solidFill>
                <a:srgbClr val="50546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4000"/>
              </a:lnSpc>
            </a:pPr>
            <a:endParaRPr lang="en-US" sz="1400" b="1" dirty="0">
              <a:solidFill>
                <a:srgbClr val="50546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A52ED2C-6C1F-C2B4-7785-D9CBF9E7F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335" y="316541"/>
            <a:ext cx="2406557" cy="431174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331663"/>
            <a:ext cx="3418061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9: Logistics Cost Burden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203802" y="1289670"/>
            <a:ext cx="2760911" cy="287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GAP Identified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203802" y="1671192"/>
            <a:ext cx="4656237" cy="309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1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Low-value orders create disproportionately high delivery cost.</a:t>
            </a:r>
          </a:p>
        </p:txBody>
      </p:sp>
      <p:sp>
        <p:nvSpPr>
          <p:cNvPr id="8" name="Text 5"/>
          <p:cNvSpPr/>
          <p:nvPr/>
        </p:nvSpPr>
        <p:spPr>
          <a:xfrm>
            <a:off x="4203802" y="2233788"/>
            <a:ext cx="2184946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Risks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894311" y="2575173"/>
            <a:ext cx="4656237" cy="1067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203802" y="3231309"/>
            <a:ext cx="2365028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894311" y="4045595"/>
            <a:ext cx="4656237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0025F1-C820-A451-24DB-F5C40FBE4B8B}"/>
              </a:ext>
            </a:extLst>
          </p:cNvPr>
          <p:cNvSpPr/>
          <p:nvPr/>
        </p:nvSpPr>
        <p:spPr>
          <a:xfrm>
            <a:off x="7645791" y="4775746"/>
            <a:ext cx="1464053" cy="344659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13E964D-397B-95D2-5AFE-E4559BF9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802" y="2184899"/>
            <a:ext cx="1871025" cy="8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Reduced profit margins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reverse logistics cost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3ECC5B5-C028-B302-3FFF-0D8262C7A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3802" y="3148674"/>
            <a:ext cx="2246128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Introduce minimum order value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delivery planning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 reverse shipping costs 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A4B0FBF-21C2-E98A-6B4A-C7DAAA45F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32" y="1433661"/>
            <a:ext cx="3667149" cy="28034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980182" y="527149"/>
            <a:ext cx="312844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10: Payment Fee Leakage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80182" y="967159"/>
            <a:ext cx="6897726" cy="31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Certain payment methods quietly reduce final profitability through accumulated gateway fees — a hidden </a:t>
            </a:r>
          </a:p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cost that compounds at volume.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49" y="1551671"/>
            <a:ext cx="3464793" cy="34647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4572000" y="1679621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GAP Identified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4571999" y="2388370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Business Risks</a:t>
            </a:r>
            <a:endParaRPr lang="en-US" sz="1400" b="1" dirty="0">
              <a:solidFill>
                <a:srgbClr val="50546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FD1B8E-CC19-7696-D175-B0EE6CA1C70D}"/>
              </a:ext>
            </a:extLst>
          </p:cNvPr>
          <p:cNvSpPr/>
          <p:nvPr/>
        </p:nvSpPr>
        <p:spPr>
          <a:xfrm>
            <a:off x="7645791" y="4775746"/>
            <a:ext cx="1464053" cy="344659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74F65F-2CC9-EDCA-F2F8-2788221A54AF}"/>
              </a:ext>
            </a:extLst>
          </p:cNvPr>
          <p:cNvSpPr txBox="1"/>
          <p:nvPr/>
        </p:nvSpPr>
        <p:spPr>
          <a:xfrm>
            <a:off x="4537844" y="196216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payment methods reduce final profitability.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1BC210B0-D9EE-6F41-7C55-342CA2EF6F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1786" y="2404976"/>
            <a:ext cx="1657249" cy="8901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Silent profit reduction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Transaction fee burden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9A10425E-434B-C8E0-274F-A5B903804143}"/>
              </a:ext>
            </a:extLst>
          </p:cNvPr>
          <p:cNvSpPr/>
          <p:nvPr/>
        </p:nvSpPr>
        <p:spPr>
          <a:xfrm>
            <a:off x="4537844" y="3447259"/>
            <a:ext cx="2365028" cy="215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Recommended Actions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A96E4B3-A148-0EB2-C037-E9E4CFE4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7844" y="3477511"/>
            <a:ext cx="2215671" cy="1167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payment partnerships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lower-fee methods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fee monitoring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968" y="527659"/>
            <a:ext cx="530341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11: Revenue Leakage Breakdown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76544" y="1112207"/>
            <a:ext cx="3224785" cy="2467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hidden costs caused by payment gateway fees.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 Identified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payment methods reduce final profitability.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Silent profit reduction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fee burden 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payment partnerships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lower-fee methods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fee monitoring </a:t>
            </a:r>
          </a:p>
          <a:p>
            <a:pPr marL="0" indent="0" algn="l">
              <a:lnSpc>
                <a:spcPct val="133000"/>
              </a:lnSpc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63EE26-845D-9B3C-C868-3A4273A73DA4}"/>
              </a:ext>
            </a:extLst>
          </p:cNvPr>
          <p:cNvSpPr/>
          <p:nvPr/>
        </p:nvSpPr>
        <p:spPr>
          <a:xfrm>
            <a:off x="7645791" y="4775746"/>
            <a:ext cx="1464053" cy="344659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170" name="Picture 2" descr="How Statistical Models Can Solve Revenue Leakage in Finance – A Case for  ARIMA &amp; Linear Regression">
            <a:extLst>
              <a:ext uri="{FF2B5EF4-FFF2-40B4-BE49-F238E27FC236}">
                <a16:creationId xmlns:a16="http://schemas.microsoft.com/office/drawing/2014/main" id="{6992FBED-EF51-D5C2-DBDC-1C7F8A0DCA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5314" y="1532487"/>
            <a:ext cx="4778349" cy="26878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98227"/>
            <a:ext cx="8151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12 &amp; 13: Product Profit Ranking &amp; Category Margin Stability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741488"/>
            <a:ext cx="235773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Product Profit Ranking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96119" y="210470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 small number of products drive the majority of profits. Low-performing SKUs tie up capital without delivering returns.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96119" y="2912691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Focus investment on high-margin products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 or eliminate weak-margin inventory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Optimize overall product assortment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99062" y="1582756"/>
            <a:ext cx="4107135" cy="2142083"/>
          </a:xfrm>
          <a:prstGeom prst="roundRect">
            <a:avLst>
              <a:gd name="adj" fmla="val 4765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789363" y="1734454"/>
            <a:ext cx="25867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Category Margin Stability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89363" y="2097669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Certain categories show volatile margins driven by pricing inconsistency and supplier cost fluctuations.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89363" y="2678843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Improve pricing governance frameworks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Stabilize supplier cost agreements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Build margin monitoring by category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56927" y="674285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14: High-Risk Customers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1544588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A small segment of customers generates excessive returns, elevated logistics costs, and disproportionate profit leakage — including potential return abuse and fraudulent behavior.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96119" y="2157685"/>
            <a:ext cx="2622724" cy="1308571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927" y="23184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Risk Scoring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6927" y="2625005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Implement customer-level risk scores based on return frequency and order behavior patterns.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60601" y="2157685"/>
            <a:ext cx="2622724" cy="1308571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1410" y="23184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Return Policy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421410" y="2625005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Strengthen return eligibility rules to reduce abuse while maintaining legitimate customer trust.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025083" y="2157685"/>
            <a:ext cx="2622724" cy="1308571"/>
          </a:xfrm>
          <a:prstGeom prst="roundRect">
            <a:avLst>
              <a:gd name="adj" fmla="val 4550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5892" y="231849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Fraud Detection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185892" y="2625005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Deploy detection logic to flag suspicious transaction and return patterns before losses compound.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0250"/>
            <a:ext cx="457222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Task 15: Executive</a:t>
            </a:r>
            <a:r>
              <a:rPr lang="en-US" sz="21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 Profitability Summary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357985" y="3959023"/>
            <a:ext cx="2142260" cy="21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Gateway Fees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357985" y="3217597"/>
            <a:ext cx="2142260" cy="21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Logistics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357985" y="1742233"/>
            <a:ext cx="2142260" cy="21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Discounts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7336" y="4659883"/>
            <a:ext cx="7946454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Closing the gap between revenue and net profit requires targeted action across all four leakage vectors simultaneously.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9C2A9F-CB14-D9D8-4539-0702A05A8B85}"/>
              </a:ext>
            </a:extLst>
          </p:cNvPr>
          <p:cNvSpPr txBox="1"/>
          <p:nvPr/>
        </p:nvSpPr>
        <p:spPr>
          <a:xfrm>
            <a:off x="665605" y="850788"/>
            <a:ext cx="5669280" cy="704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  <a:p>
            <a:pPr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executive-level profitability diagnosis</a:t>
            </a:r>
            <a:r>
              <a:rPr lang="en-IN" sz="1400" dirty="0"/>
              <a:t>.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CFFE0D2-B3F3-41E5-44A7-782262991008}"/>
              </a:ext>
            </a:extLst>
          </p:cNvPr>
          <p:cNvSpPr/>
          <p:nvPr/>
        </p:nvSpPr>
        <p:spPr>
          <a:xfrm>
            <a:off x="415737" y="1691431"/>
            <a:ext cx="2856878" cy="1942000"/>
          </a:xfrm>
          <a:prstGeom prst="roundRect">
            <a:avLst>
              <a:gd name="adj" fmla="val 4765"/>
            </a:avLst>
          </a:prstGeom>
          <a:solidFill>
            <a:srgbClr val="505468">
              <a:alpha val="95000"/>
            </a:srgbClr>
          </a:solidFill>
          <a:ln/>
        </p:spPr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71644D-4789-D004-E2E7-7BBBC0A40F14}"/>
              </a:ext>
            </a:extLst>
          </p:cNvPr>
          <p:cNvSpPr txBox="1"/>
          <p:nvPr/>
        </p:nvSpPr>
        <p:spPr>
          <a:xfrm>
            <a:off x="773723" y="1934161"/>
            <a:ext cx="2222695" cy="1767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Leakage Drivers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Discounts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Returns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Logistics costs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 gateway fees</a:t>
            </a:r>
          </a:p>
          <a:p>
            <a:pPr>
              <a:lnSpc>
                <a:spcPct val="150000"/>
              </a:lnSpc>
              <a:buNone/>
            </a:pPr>
            <a:endParaRPr lang="en-US" sz="1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484E0-57BD-ECCA-A09A-630CB81FED2C}"/>
              </a:ext>
            </a:extLst>
          </p:cNvPr>
          <p:cNvSpPr txBox="1"/>
          <p:nvPr/>
        </p:nvSpPr>
        <p:spPr>
          <a:xfrm>
            <a:off x="3938666" y="1614216"/>
            <a:ext cx="4572000" cy="659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Risks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Strong revenue but weak profitability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A21857-C857-8635-A58F-37CD65ECFC1F}"/>
              </a:ext>
            </a:extLst>
          </p:cNvPr>
          <p:cNvSpPr txBox="1"/>
          <p:nvPr/>
        </p:nvSpPr>
        <p:spPr>
          <a:xfrm>
            <a:off x="3988191" y="2461700"/>
            <a:ext cx="4572000" cy="121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profit monitoring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operational leakage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overall cost structure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83753"/>
            <a:ext cx="8202141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Overall GAP Findings &amp; Strategic Recommendations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41871" y="1059359"/>
            <a:ext cx="236941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Major Problems Identified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80778" y="1377181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0561" y="1406761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1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38349" y="1426518"/>
            <a:ext cx="20354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Revenue–Profit Gap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4507" y="1892052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561" y="1915678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2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38349" y="1935435"/>
            <a:ext cx="210926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Discount Dependency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80778" y="2400970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561" y="2424596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3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38349" y="2444353"/>
            <a:ext cx="217363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Return-Driven Leakage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84074" y="2909888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561" y="2933514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4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8349" y="2953271"/>
            <a:ext cx="207965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Logistics Cost Burden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84074" y="3408616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561" y="3442432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5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8349" y="3462189"/>
            <a:ext cx="2319561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Product Profit Imbalance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0778" y="3927723"/>
            <a:ext cx="284038" cy="284038"/>
          </a:xfrm>
          <a:prstGeom prst="roundRect">
            <a:avLst>
              <a:gd name="adj" fmla="val 18670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561" y="3951350"/>
            <a:ext cx="417984" cy="23671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6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8349" y="3971106"/>
            <a:ext cx="2651820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Customer Risk Concentration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730800" y="1059359"/>
            <a:ext cx="258194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Strategic Recommendations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127" y="1387041"/>
            <a:ext cx="189384" cy="18938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141044" y="1383134"/>
            <a:ext cx="2333625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Profitability Optimization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141044" y="1692846"/>
            <a:ext cx="4002956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Improve margin tracking; focus on profitable products.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127" y="2112578"/>
            <a:ext cx="189384" cy="189384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141044" y="2108671"/>
            <a:ext cx="2412504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Discount &amp; Return Control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5141044" y="2418383"/>
            <a:ext cx="356584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 unnecessary promotions; improve product quality to lower return rates.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127" y="3029062"/>
            <a:ext cx="189384" cy="1893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141044" y="3025155"/>
            <a:ext cx="2354907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Logistics &amp; Payment Cost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5141044" y="3334866"/>
            <a:ext cx="356584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Reduce reverse shipping costs; promote low-fee payment methods.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8127" y="3945545"/>
            <a:ext cx="189384" cy="18938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5141044" y="3941638"/>
            <a:ext cx="256758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Customer Risk Management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8"/>
          <p:cNvSpPr/>
          <p:nvPr/>
        </p:nvSpPr>
        <p:spPr>
          <a:xfrm>
            <a:off x="5141044" y="4251350"/>
            <a:ext cx="3565847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Track and score high-risk customers; strengthen fraud detection.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7637"/>
            <a:ext cx="451924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05468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Conclusion &amp; Thank You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87322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High revenue alone does not guarantee profitability.</a:t>
            </a: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 Hidden operational leakages — across discounts, returns, logistics, and payment fees — consistently reduce business performance below its true potential.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486323"/>
            <a:ext cx="8151763" cy="1053182"/>
          </a:xfrm>
          <a:prstGeom prst="roundRect">
            <a:avLst>
              <a:gd name="adj" fmla="val 5654"/>
            </a:avLst>
          </a:prstGeom>
          <a:solidFill>
            <a:srgbClr val="E2E3E9"/>
          </a:solidFill>
          <a:ln w="4763">
            <a:solidFill>
              <a:srgbClr val="C8C9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2491085"/>
            <a:ext cx="4071119" cy="1043657"/>
          </a:xfrm>
          <a:prstGeom prst="roundRect">
            <a:avLst>
              <a:gd name="adj" fmla="val 5705"/>
            </a:avLst>
          </a:prstGeom>
          <a:solidFill>
            <a:srgbClr val="E2E3E9"/>
          </a:solidFill>
          <a:ln/>
        </p:spPr>
      </p:sp>
      <p:sp>
        <p:nvSpPr>
          <p:cNvPr id="6" name="Text 4"/>
          <p:cNvSpPr/>
          <p:nvPr/>
        </p:nvSpPr>
        <p:spPr>
          <a:xfrm>
            <a:off x="642640" y="2632844"/>
            <a:ext cx="24648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SQL Analytics Identified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2640" y="2939355"/>
            <a:ext cx="37876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Revenue leakage, cost inefficiencies, and high-risk operational areas surfaced through structured analysis.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72000" y="2491085"/>
            <a:ext cx="4071119" cy="1043657"/>
          </a:xfrm>
          <a:prstGeom prst="rect">
            <a:avLst/>
          </a:prstGeom>
          <a:solidFill>
            <a:srgbClr val="E2E3E9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491085"/>
            <a:ext cx="19050" cy="1043657"/>
          </a:xfrm>
          <a:prstGeom prst="roundRect">
            <a:avLst>
              <a:gd name="adj" fmla="val 312558"/>
            </a:avLst>
          </a:prstGeom>
          <a:solidFill>
            <a:srgbClr val="C8C9CF"/>
          </a:solidFill>
          <a:ln/>
        </p:spPr>
      </p:sp>
      <p:sp>
        <p:nvSpPr>
          <p:cNvPr id="10" name="Text 8"/>
          <p:cNvSpPr/>
          <p:nvPr/>
        </p:nvSpPr>
        <p:spPr>
          <a:xfrm>
            <a:off x="4713759" y="263284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Semi Bold" pitchFamily="34" charset="-122"/>
                <a:cs typeface="Times New Roman" panose="02020603050405020304" pitchFamily="18" charset="0"/>
              </a:rPr>
              <a:t>Strategic Impact</a:t>
            </a:r>
            <a:endParaRPr 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13759" y="2939355"/>
            <a:ext cx="37876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Targeted improvements can increase profit margins, operational efficiency, and sustainable long-term growth.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67519" y="3698974"/>
            <a:ext cx="83803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b="1" i="1" dirty="0">
                <a:solidFill>
                  <a:srgbClr val="5B5F71"/>
                </a:solidFill>
                <a:latin typeface="Times New Roman" panose="02020603050405020304" pitchFamily="18" charset="0"/>
                <a:ea typeface="Instrument Sans Medium" pitchFamily="34" charset="-122"/>
                <a:cs typeface="Times New Roman" panose="02020603050405020304" pitchFamily="18" charset="0"/>
              </a:rPr>
              <a:t>Thank you for your time and attention.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1171</Words>
  <Application>Microsoft Office PowerPoint</Application>
  <PresentationFormat>On-screen Show (16:9)</PresentationFormat>
  <Paragraphs>264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Times New Roman</vt:lpstr>
      <vt:lpstr>Arial</vt:lpstr>
      <vt:lpstr>Instrument Sans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Prasanna Kumar</cp:lastModifiedBy>
  <cp:revision>14</cp:revision>
  <dcterms:created xsi:type="dcterms:W3CDTF">2026-05-16T08:41:04Z</dcterms:created>
  <dcterms:modified xsi:type="dcterms:W3CDTF">2026-05-18T08:29:43Z</dcterms:modified>
</cp:coreProperties>
</file>